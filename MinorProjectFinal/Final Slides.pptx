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Raleway"/>
      <p:regular r:id="rId32"/>
      <p:bold r:id="rId33"/>
      <p:italic r:id="rId34"/>
      <p:boldItalic r:id="rId35"/>
    </p:embeddedFont>
    <p:embeddedFont>
      <p:font typeface="Lat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aleway-bold.fntdata"/><Relationship Id="rId10" Type="http://schemas.openxmlformats.org/officeDocument/2006/relationships/slide" Target="slides/slide5.xml"/><Relationship Id="rId32" Type="http://schemas.openxmlformats.org/officeDocument/2006/relationships/font" Target="fonts/Raleway-regular.fntdata"/><Relationship Id="rId13" Type="http://schemas.openxmlformats.org/officeDocument/2006/relationships/slide" Target="slides/slide8.xml"/><Relationship Id="rId35" Type="http://schemas.openxmlformats.org/officeDocument/2006/relationships/font" Target="fonts/Raleway-boldItalic.fntdata"/><Relationship Id="rId12" Type="http://schemas.openxmlformats.org/officeDocument/2006/relationships/slide" Target="slides/slide7.xml"/><Relationship Id="rId34" Type="http://schemas.openxmlformats.org/officeDocument/2006/relationships/font" Target="fonts/Raleway-italic.fntdata"/><Relationship Id="rId15" Type="http://schemas.openxmlformats.org/officeDocument/2006/relationships/slide" Target="slides/slide10.xml"/><Relationship Id="rId37" Type="http://schemas.openxmlformats.org/officeDocument/2006/relationships/font" Target="fonts/Lato-bold.fntdata"/><Relationship Id="rId14" Type="http://schemas.openxmlformats.org/officeDocument/2006/relationships/slide" Target="slides/slide9.xml"/><Relationship Id="rId36" Type="http://schemas.openxmlformats.org/officeDocument/2006/relationships/font" Target="fonts/Lato-regular.fntdata"/><Relationship Id="rId17" Type="http://schemas.openxmlformats.org/officeDocument/2006/relationships/slide" Target="slides/slide12.xml"/><Relationship Id="rId39" Type="http://schemas.openxmlformats.org/officeDocument/2006/relationships/font" Target="fonts/Lato-boldItalic.fntdata"/><Relationship Id="rId16" Type="http://schemas.openxmlformats.org/officeDocument/2006/relationships/slide" Target="slides/slide11.xml"/><Relationship Id="rId38" Type="http://schemas.openxmlformats.org/officeDocument/2006/relationships/font" Target="fonts/Lat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36ac3e9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36ac3e9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36ac3e9e4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36ac3e9e4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36ac3e9e4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36ac3e9e4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36ac3e9e4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36ac3e9e4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36ac3e9e4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36ac3e9e4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36ac3e9e4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36ac3e9e4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4049d34c6_3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f4049d34c6_3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4049d34c6_3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4049d34c6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ae2ebbc5b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ae2ebbc5b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4049d34c6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4049d34c6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ae2ebbc5b_5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ae2ebbc5b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4049d34c6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4049d34c6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36ac3e9e4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36ac3e9e4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4049d34c6_3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f4049d34c6_3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4049d34c6_3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f4049d34c6_3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4049d34c6_3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4049d34c6_3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4049d34c6_3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4049d34c6_3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4049d34c6_3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4049d34c6_3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4049d34c6_3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f4049d34c6_3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4049d34c6_3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4049d34c6_3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ae4a1362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fae4a1362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4049d34c6_3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4049d34c6_3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36ac3e9e4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f36ac3e9e4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4049d34c6_3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f4049d34c6_3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4049d34c6_3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f4049d34c6_3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8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00"/>
              <a:t>Fault Detection And Bit-Error Rate Diagnostics In Optical Wireless Links Using Edge-AI</a:t>
            </a:r>
            <a:endParaRPr sz="340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58075"/>
            <a:ext cx="7688100" cy="19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Minor Project Final Defense Presentation</a:t>
            </a:r>
            <a:endParaRPr sz="14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300"/>
            </a:br>
            <a:r>
              <a:rPr lang="en" sz="1300"/>
              <a:t>Sarthak Bhattarai </a:t>
            </a:r>
            <a:r>
              <a:rPr lang="en" sz="1300"/>
              <a:t>(</a:t>
            </a:r>
            <a:r>
              <a:rPr lang="en" sz="1300"/>
              <a:t>080BEI038</a:t>
            </a:r>
            <a:r>
              <a:rPr lang="en" sz="1300"/>
              <a:t>)</a:t>
            </a:r>
            <a:endParaRPr sz="13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Sheshadri Shikhar Bandyopadhyay (080BEI040)</a:t>
            </a:r>
            <a:endParaRPr sz="13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Suprabh Dhakal (080BEI043)</a:t>
            </a:r>
            <a:endParaRPr sz="13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IOE, Pulchowk Campus</a:t>
            </a:r>
            <a:endParaRPr sz="13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August 2026</a:t>
            </a:r>
            <a:endParaRPr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7650" y="582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40"/>
              <a:t>Introduction</a:t>
            </a:r>
            <a:endParaRPr sz="2440"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7650" y="1342625"/>
            <a:ext cx="7688700" cy="33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Optical Wireless Communication (OWC) is a free-space optical approach to digital communication.</a:t>
            </a:r>
            <a:endParaRPr sz="1600"/>
          </a:p>
          <a:p>
            <a:pPr indent="0" lvl="0" marL="9144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9144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Our project implements an optical communication link for digital data transmission and recovery.</a:t>
            </a:r>
            <a:endParaRPr sz="1600"/>
          </a:p>
          <a:p>
            <a:pPr indent="0" lvl="0" marL="9144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9144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system combines optical communication with embedded signal monitoring and machine learning.</a:t>
            </a:r>
            <a:endParaRPr sz="1600"/>
          </a:p>
          <a:p>
            <a:pPr indent="0" lvl="0" marL="9144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9144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receiver integrates data recovery, signal analysis, and link-condition classification.</a:t>
            </a:r>
            <a:endParaRPr sz="1600"/>
          </a:p>
          <a:p>
            <a:pPr indent="0" lvl="0" marL="914400" rtl="0" algn="l">
              <a:lnSpc>
                <a:spcPct val="9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5616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40"/>
              <a:t>Problem Statement</a:t>
            </a:r>
            <a:endParaRPr sz="2440"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687950" y="1332225"/>
            <a:ext cx="7898100" cy="36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4168" lvl="0" marL="457200" rtl="0" algn="l">
              <a:spcBef>
                <a:spcPts val="1000"/>
              </a:spcBef>
              <a:spcAft>
                <a:spcPts val="0"/>
              </a:spcAft>
              <a:buSzPts val="1505"/>
              <a:buChar char="●"/>
            </a:pPr>
            <a:r>
              <a:rPr lang="en" sz="1505"/>
              <a:t>OWC links are vulnerable to unpredictable environmental and physical disruptions. </a:t>
            </a:r>
            <a:endParaRPr sz="1505"/>
          </a:p>
          <a:p>
            <a:pPr indent="-324168" lvl="0" marL="457200" rtl="0" algn="l">
              <a:spcBef>
                <a:spcPts val="1000"/>
              </a:spcBef>
              <a:spcAft>
                <a:spcPts val="0"/>
              </a:spcAft>
              <a:buSzPts val="1505"/>
              <a:buChar char="●"/>
            </a:pPr>
            <a:r>
              <a:rPr lang="en" sz="1505"/>
              <a:t>Conventional diagnostics rely on external/cloud computing: higher latency, bandwidth usage, and reduced node autonomy.</a:t>
            </a:r>
            <a:endParaRPr sz="1505"/>
          </a:p>
          <a:p>
            <a:pPr indent="-324168" lvl="0" marL="457200" rtl="0" algn="l">
              <a:spcBef>
                <a:spcPts val="1000"/>
              </a:spcBef>
              <a:spcAft>
                <a:spcPts val="0"/>
              </a:spcAft>
              <a:buSzPts val="1505"/>
              <a:buChar char="●"/>
            </a:pPr>
            <a:r>
              <a:rPr lang="en" sz="1505"/>
              <a:t>Increasing RF congestion motivates alternative wireless communication technologies.</a:t>
            </a:r>
            <a:endParaRPr sz="1505"/>
          </a:p>
          <a:p>
            <a:pPr indent="-324168" lvl="0" marL="457200" rtl="0" algn="l">
              <a:spcBef>
                <a:spcPts val="1000"/>
              </a:spcBef>
              <a:spcAft>
                <a:spcPts val="0"/>
              </a:spcAft>
              <a:buSzPts val="1505"/>
              <a:buChar char="●"/>
            </a:pPr>
            <a:r>
              <a:rPr lang="en" sz="1505"/>
              <a:t>Need for a self-contained, embedded diagnostic system at the receiver.</a:t>
            </a:r>
            <a:endParaRPr sz="1505"/>
          </a:p>
          <a:p>
            <a:pPr indent="-324168" lvl="0" marL="457200" rtl="0" algn="l">
              <a:spcBef>
                <a:spcPts val="1000"/>
              </a:spcBef>
              <a:spcAft>
                <a:spcPts val="0"/>
              </a:spcAft>
              <a:buSzPts val="1505"/>
              <a:buChar char="●"/>
            </a:pPr>
            <a:r>
              <a:rPr lang="en" sz="1505"/>
              <a:t>Real-time evaluation of physical-layer parameters for:</a:t>
            </a:r>
            <a:endParaRPr sz="1505"/>
          </a:p>
          <a:p>
            <a:pPr indent="-324168" lvl="1" marL="914400" rtl="0" algn="l">
              <a:spcBef>
                <a:spcPts val="1000"/>
              </a:spcBef>
              <a:spcAft>
                <a:spcPts val="0"/>
              </a:spcAft>
              <a:buSzPts val="1505"/>
              <a:buChar char="○"/>
            </a:pPr>
            <a:r>
              <a:rPr lang="en" sz="1505"/>
              <a:t>Degradation severity</a:t>
            </a:r>
            <a:endParaRPr sz="1505"/>
          </a:p>
          <a:p>
            <a:pPr indent="-324168" lvl="1" marL="914400" rtl="0" algn="l">
              <a:spcBef>
                <a:spcPts val="1000"/>
              </a:spcBef>
              <a:spcAft>
                <a:spcPts val="0"/>
              </a:spcAft>
              <a:buSzPts val="1505"/>
              <a:buChar char="○"/>
            </a:pPr>
            <a:r>
              <a:rPr lang="en" sz="1505"/>
              <a:t>Degradation type</a:t>
            </a:r>
            <a:endParaRPr sz="1505"/>
          </a:p>
          <a:p>
            <a:pPr indent="-324168" lvl="1" marL="914400" rtl="0" algn="l">
              <a:spcBef>
                <a:spcPts val="1000"/>
              </a:spcBef>
              <a:spcAft>
                <a:spcPts val="1000"/>
              </a:spcAft>
              <a:buSzPts val="1505"/>
              <a:buChar char="○"/>
            </a:pPr>
            <a:r>
              <a:rPr lang="en" sz="1505"/>
              <a:t>Local, infrastructure-independent diagnosis</a:t>
            </a:r>
            <a:endParaRPr sz="150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7650" y="6031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40"/>
              <a:t>Objectives</a:t>
            </a:r>
            <a:endParaRPr sz="2440"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7650" y="1373700"/>
            <a:ext cx="7688700" cy="37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Implement a low-power OWC link for reliable digital data transmission and recovery.</a:t>
            </a:r>
            <a:endParaRPr sz="1700"/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Extract key diagnostic features: Signal Voltage, BER, SNR, and Ambient Light.</a:t>
            </a:r>
            <a:endParaRPr sz="1700"/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Train, quantize, and deploy a compact TensorFlow Lite Micro neural network on the receiver.</a:t>
            </a:r>
            <a:endParaRPr sz="1700"/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Classify four link conditions: Normal transmission, optical filter attenuation, ambient-light interference, and severe obstruction/misalignment.</a:t>
            </a:r>
            <a:endParaRPr sz="17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7650" y="592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11"/>
              <a:t>Methodology</a:t>
            </a:r>
            <a:endParaRPr sz="2411"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7650" y="1425700"/>
            <a:ext cx="8130900" cy="37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659" lvl="0" marL="457200" rtl="0" algn="l">
              <a:spcBef>
                <a:spcPts val="0"/>
              </a:spcBef>
              <a:spcAft>
                <a:spcPts val="0"/>
              </a:spcAft>
              <a:buSzPts val="1403"/>
              <a:buChar char="●"/>
            </a:pPr>
            <a:r>
              <a:rPr b="1" lang="en" sz="1403"/>
              <a:t>Experimental hardware-oriented approach:</a:t>
            </a:r>
            <a:r>
              <a:rPr lang="en" sz="1403"/>
              <a:t> integrating optical communication, signal analysis, dataset generation, ML, and embedded inference.</a:t>
            </a:r>
            <a:endParaRPr sz="1403"/>
          </a:p>
          <a:p>
            <a:pPr indent="-317659" lvl="0" marL="457200" rtl="0" algn="l">
              <a:spcBef>
                <a:spcPts val="1000"/>
              </a:spcBef>
              <a:spcAft>
                <a:spcPts val="0"/>
              </a:spcAft>
              <a:buSzPts val="1403"/>
              <a:buChar char="●"/>
            </a:pPr>
            <a:r>
              <a:rPr b="1" lang="en" sz="1403"/>
              <a:t>FSO link development:</a:t>
            </a:r>
            <a:r>
              <a:rPr lang="en" sz="1403"/>
              <a:t> laser-based transmitter → free-space LOS channel → photodiode receiver.</a:t>
            </a:r>
            <a:endParaRPr sz="1403"/>
          </a:p>
          <a:p>
            <a:pPr indent="-317659" lvl="0" marL="457200" rtl="0" algn="l">
              <a:spcBef>
                <a:spcPts val="1000"/>
              </a:spcBef>
              <a:spcAft>
                <a:spcPts val="0"/>
              </a:spcAft>
              <a:buSzPts val="1403"/>
              <a:buChar char="●"/>
            </a:pPr>
            <a:r>
              <a:rPr b="1" lang="en" sz="1403"/>
              <a:t>Receiver processing: </a:t>
            </a:r>
            <a:r>
              <a:rPr lang="en" sz="1403"/>
              <a:t>transmitted data recovery and extraction of optical-link quality parameters.</a:t>
            </a:r>
            <a:endParaRPr sz="1403"/>
          </a:p>
          <a:p>
            <a:pPr indent="-317659" lvl="0" marL="457200" rtl="0" algn="l">
              <a:spcBef>
                <a:spcPts val="1000"/>
              </a:spcBef>
              <a:spcAft>
                <a:spcPts val="0"/>
              </a:spcAft>
              <a:buSzPts val="1403"/>
              <a:buChar char="●"/>
            </a:pPr>
            <a:r>
              <a:rPr b="1" lang="en" sz="1403"/>
              <a:t>Controlled optical conditions:</a:t>
            </a:r>
            <a:r>
              <a:rPr lang="en" sz="1403"/>
              <a:t> systematic changes in the optical path/environment to generate labelled diagnostic datasets.</a:t>
            </a:r>
            <a:endParaRPr sz="1403"/>
          </a:p>
          <a:p>
            <a:pPr indent="-317659" lvl="0" marL="457200" rtl="0" algn="l">
              <a:spcBef>
                <a:spcPts val="1000"/>
              </a:spcBef>
              <a:spcAft>
                <a:spcPts val="0"/>
              </a:spcAft>
              <a:buSzPts val="1403"/>
              <a:buChar char="●"/>
            </a:pPr>
            <a:r>
              <a:rPr b="1" lang="en" sz="1403"/>
              <a:t>ML pipeline:</a:t>
            </a:r>
            <a:r>
              <a:rPr lang="en" sz="1403"/>
              <a:t> labelled feature vectors → supervised classification → operating-condition diagnosis.</a:t>
            </a:r>
            <a:endParaRPr sz="1403"/>
          </a:p>
          <a:p>
            <a:pPr indent="-317659" lvl="0" marL="457200" rtl="0" algn="l">
              <a:spcBef>
                <a:spcPts val="1000"/>
              </a:spcBef>
              <a:spcAft>
                <a:spcPts val="0"/>
              </a:spcAft>
              <a:buSzPts val="1403"/>
              <a:buChar char="●"/>
            </a:pPr>
            <a:r>
              <a:rPr b="1" lang="en" sz="1403"/>
              <a:t>Final evaluation: </a:t>
            </a:r>
            <a:r>
              <a:rPr lang="en" sz="1403"/>
              <a:t>communication performance and diagnostic accuracy, with the trained model deployed for embedded inference.</a:t>
            </a:r>
            <a:endParaRPr sz="1403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403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7650" y="530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11"/>
              <a:t>System Architecture</a:t>
            </a:r>
            <a:endParaRPr sz="2411"/>
          </a:p>
        </p:txBody>
      </p:sp>
      <p:pic>
        <p:nvPicPr>
          <p:cNvPr id="117" name="Google Shape;117;p18" title="architec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2417" y="1542750"/>
            <a:ext cx="5939169" cy="3239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7650" y="551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40"/>
              <a:t>Algorithms/Models</a:t>
            </a:r>
            <a:endParaRPr sz="2440"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649350" y="1332350"/>
            <a:ext cx="7845300" cy="38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Optical Transmission:</a:t>
            </a:r>
            <a:r>
              <a:rPr lang="en" sz="1500"/>
              <a:t> Known binary payload transmitted using NRZ-L with synchronization and guard intervals.</a:t>
            </a:r>
            <a:endParaRPr sz="1500"/>
          </a:p>
          <a:p>
            <a:pPr indent="-323850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Synchronization:</a:t>
            </a:r>
            <a:r>
              <a:rPr lang="en" sz="1500"/>
              <a:t> Detects a predefined optical event to establish the start of payload sampling.</a:t>
            </a:r>
            <a:endParaRPr sz="1500"/>
          </a:p>
          <a:p>
            <a:pPr indent="-323850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Bit Recovery:</a:t>
            </a:r>
            <a:r>
              <a:rPr lang="en" sz="1500"/>
              <a:t> Multiple samples per bit interval with thresholding and majority voting for reliable bit decisions.</a:t>
            </a:r>
            <a:endParaRPr sz="1500"/>
          </a:p>
          <a:p>
            <a:pPr indent="-323850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BER Calculation:</a:t>
            </a:r>
            <a:r>
              <a:rPr lang="en" sz="1500"/>
              <a:t> Compares transmitted and recovered sequences to determine the bit error rate locally.</a:t>
            </a:r>
            <a:endParaRPr sz="1500"/>
          </a:p>
          <a:p>
            <a:pPr indent="-323850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Telemetry &amp; Feature Extraction:</a:t>
            </a:r>
            <a:r>
              <a:rPr lang="en" sz="1500"/>
              <a:t> Extracts received voltage, BER, SNR, and ambient-light level into a diagnostic feature vector.</a:t>
            </a:r>
            <a:endParaRPr sz="1500"/>
          </a:p>
          <a:p>
            <a:pPr indent="-323850" lvl="0" marL="457200" rtl="0" algn="l">
              <a:lnSpc>
                <a:spcPct val="95000"/>
              </a:lnSpc>
              <a:spcBef>
                <a:spcPts val="1000"/>
              </a:spcBef>
              <a:spcAft>
                <a:spcPts val="1000"/>
              </a:spcAft>
              <a:buSzPts val="1500"/>
              <a:buChar char="●"/>
            </a:pPr>
            <a:r>
              <a:rPr b="1" lang="en" sz="1500"/>
              <a:t>Classification:</a:t>
            </a:r>
            <a:r>
              <a:rPr lang="en" sz="1500"/>
              <a:t> Supervised multiclass model classifies the link into four operating conditions.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729450" y="592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 Implementation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729450" y="1383350"/>
            <a:ext cx="7688700" cy="37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Separate ESP32-based transmitter and ESP32-S3-based receiver nodes.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Transmitter: 650 nm HW-493 laser, 2N2222 transistor switching stage, and 1 kΩ base resistor.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Receiver: BPW34 PIN photodiode, LM358 signal-conditioning circuit, and ESP32-S3 ADC acquisition.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Receiver performs optical signal detection, conditioning, communication analysis, feature extraction, and embedded classification.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SzPts val="1600"/>
              <a:buChar char="●"/>
            </a:pPr>
            <a:r>
              <a:rPr lang="en" sz="1600"/>
              <a:t>ADC acquisition through ESP32-S3 GPIO 4.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1" title="1_TxSchematic.jf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91525"/>
            <a:ext cx="8839199" cy="4651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2" title="Transmitt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6375"/>
            <a:ext cx="9426349" cy="464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 txBox="1"/>
          <p:nvPr/>
        </p:nvSpPr>
        <p:spPr>
          <a:xfrm>
            <a:off x="0" y="65275"/>
            <a:ext cx="622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Transmitter Prototype</a:t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3" title="2_RxSchemati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050" y="512275"/>
            <a:ext cx="8837900" cy="4631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4" title="Receiv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6375"/>
            <a:ext cx="9144000" cy="427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4"/>
          <p:cNvSpPr txBox="1"/>
          <p:nvPr/>
        </p:nvSpPr>
        <p:spPr>
          <a:xfrm>
            <a:off x="0" y="65275"/>
            <a:ext cx="622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Receiver </a:t>
            </a:r>
            <a:r>
              <a:rPr b="1"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Prototype</a:t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title"/>
          </p:nvPr>
        </p:nvSpPr>
        <p:spPr>
          <a:xfrm>
            <a:off x="729450" y="592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 Firmware Implementation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5"/>
          <p:cNvSpPr txBox="1"/>
          <p:nvPr>
            <p:ph idx="1" type="body"/>
          </p:nvPr>
        </p:nvSpPr>
        <p:spPr>
          <a:xfrm>
            <a:off x="729450" y="1383350"/>
            <a:ext cx="7688700" cy="37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1000 bit/s OOK with NRZ-L line coding and known fixed-text payload.</a:t>
            </a:r>
            <a:endParaRPr sz="1500"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Transmitter: ESP32 GPIO 23 controls laser switching; 1 ms bit duration.</a:t>
            </a:r>
            <a:endParaRPr sz="1500"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Receiver: ESP32-S3 GPIO 4 ADC performs signal acquisition, synchronization, bit recovery, BER calculation, feature extraction, and ML inference.</a:t>
            </a:r>
            <a:endParaRPr sz="1500"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Synchronization: 100 ms pulse followed by 20 ms guard interval for deterministic payload timing.</a:t>
            </a:r>
            <a:endParaRPr sz="1500"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Bit Recovery: Five ADC samples per bit across the central 60% of the bit interval, with a 1700-count threshold and majority voting.</a:t>
            </a:r>
            <a:endParaRPr sz="1500"/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SzPts val="1500"/>
              <a:buChar char="●"/>
            </a:pPr>
            <a:r>
              <a:rPr lang="en" sz="1500"/>
              <a:t>All communication and diagnostic processing is performed locally on the receiver.</a:t>
            </a:r>
            <a:endParaRPr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727650" y="561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11"/>
              <a:t>Dataset Preparation &amp; Experimental Setup</a:t>
            </a:r>
            <a:endParaRPr sz="241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411"/>
          </a:p>
        </p:txBody>
      </p:sp>
      <p:sp>
        <p:nvSpPr>
          <p:cNvPr id="163" name="Google Shape;163;p26"/>
          <p:cNvSpPr txBox="1"/>
          <p:nvPr>
            <p:ph idx="1" type="body"/>
          </p:nvPr>
        </p:nvSpPr>
        <p:spPr>
          <a:xfrm>
            <a:off x="727650" y="1301125"/>
            <a:ext cx="8109900" cy="37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Dataset generated directly from the developed OWC hardware to capture real system characteristics.</a:t>
            </a:r>
            <a:endParaRPr sz="1400"/>
          </a:p>
          <a:p>
            <a:pPr indent="-31750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Known fixed payload transmitted under controlled operating conditions, with telemetry recorded and labelled by physical condition</a:t>
            </a:r>
            <a:r>
              <a:rPr lang="en" sz="1400"/>
              <a:t>.</a:t>
            </a:r>
            <a:endParaRPr sz="1400"/>
          </a:p>
          <a:p>
            <a:pPr indent="-31750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Diagnostic features: Signal Voltage, BER, SNR, and Ambient Light.</a:t>
            </a:r>
            <a:endParaRPr sz="1400"/>
          </a:p>
          <a:p>
            <a:pPr indent="-31750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Four experimental classes:</a:t>
            </a:r>
            <a:endParaRPr sz="1400"/>
          </a:p>
          <a:p>
            <a:pPr indent="-317500" lvl="1" marL="9144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Normal Condition (Class 0)</a:t>
            </a:r>
            <a:endParaRPr sz="1400"/>
          </a:p>
          <a:p>
            <a:pPr indent="-317500" lvl="1" marL="9144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Optical Filter Attenuation (Class 1)</a:t>
            </a:r>
            <a:endParaRPr sz="1400"/>
          </a:p>
          <a:p>
            <a:pPr indent="-317500" lvl="1" marL="9144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High Ambient Light (Class 2)</a:t>
            </a:r>
            <a:endParaRPr sz="1400"/>
          </a:p>
          <a:p>
            <a:pPr indent="-317500" lvl="1" marL="9144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Severe Obstruction / Misalignment (Class 3)</a:t>
            </a:r>
            <a:endParaRPr sz="1400"/>
          </a:p>
          <a:p>
            <a:pPr indent="-317500" lvl="0" marL="457200" rtl="0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 sz="1400"/>
              <a:t>Consistent measurement procedure maintained across all conditions for comparable data acquisition.</a:t>
            </a:r>
            <a:endParaRPr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7" title="3_SampleDistribu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8" title="4_FeatureDistribu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/>
          <p:nvPr>
            <p:ph type="title"/>
          </p:nvPr>
        </p:nvSpPr>
        <p:spPr>
          <a:xfrm>
            <a:off x="729450" y="592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Machine-Learning Model &amp; Edge-AI Deployment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729450" y="1383350"/>
            <a:ext cx="7688700" cy="37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Four-class supervised neural network using Signal Voltage, BER, SNR, and Ambient Light as inputs.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Compact TensorFlow Lite Micro model trained and evaluated using the prepared dataset.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Model converted and quantized to reduce memory and computational requirements for ESP32-S3 deployment.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TensorFlow Lite Micro integrated into receiver firmware for local inference without external computing.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 sz="1400"/>
              <a:t>Integrated operation: payload recovery → feature extraction → preprocessing → ML inference → diagnostic classification.</a:t>
            </a:r>
            <a:endParaRPr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0" title="5_LossCurvr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850" y="533400"/>
            <a:ext cx="7467600" cy="461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1" title="6_Confusion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575" y="533400"/>
            <a:ext cx="7268724" cy="461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2" title="8_Quantization.jf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543375"/>
            <a:ext cx="8839199" cy="4600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/>
          <p:nvPr>
            <p:ph type="title"/>
          </p:nvPr>
        </p:nvSpPr>
        <p:spPr>
          <a:xfrm>
            <a:off x="727650" y="561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200" name="Google Shape;200;p33"/>
          <p:cNvSpPr txBox="1"/>
          <p:nvPr>
            <p:ph idx="1" type="body"/>
          </p:nvPr>
        </p:nvSpPr>
        <p:spPr>
          <a:xfrm>
            <a:off x="727650" y="1280375"/>
            <a:ext cx="7688700" cy="38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425"/>
              <a:t>Communication Performance</a:t>
            </a:r>
            <a:endParaRPr b="1" sz="1425"/>
          </a:p>
          <a:p>
            <a:pPr indent="-319088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25"/>
              <a:buChar char="●"/>
            </a:pPr>
            <a:r>
              <a:rPr lang="en" sz="1425"/>
              <a:t>Normal LOS: BER = 0, signal voltage ≈ 0.12 V, SNR ≈ 10.5 dB.</a:t>
            </a:r>
            <a:endParaRPr sz="1425"/>
          </a:p>
          <a:p>
            <a:pPr indent="-319088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425"/>
              <a:buChar char="●"/>
            </a:pPr>
            <a:r>
              <a:rPr lang="en" sz="1425"/>
              <a:t>Progressive degradation caused decreasing signal voltage/SNR and increasing BER.</a:t>
            </a:r>
            <a:endParaRPr sz="1425"/>
          </a:p>
          <a:p>
            <a:pPr indent="-319088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425"/>
              <a:buChar char="●"/>
            </a:pPr>
            <a:r>
              <a:rPr lang="en" sz="1425"/>
              <a:t>Severe obstruction/misalignment: BER &gt; 0.35 and SNR as low as −20 dB.</a:t>
            </a:r>
            <a:endParaRPr sz="1425"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4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1425"/>
              <a:t>ML Classification Performance</a:t>
            </a:r>
            <a:endParaRPr sz="1425"/>
          </a:p>
          <a:p>
            <a:pPr indent="-319088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25"/>
              <a:buChar char="●"/>
            </a:pPr>
            <a:r>
              <a:rPr lang="en" sz="1425"/>
              <a:t>Floating-point neural network: 78.48% test accuracy.</a:t>
            </a:r>
            <a:endParaRPr sz="1425"/>
          </a:p>
          <a:p>
            <a:pPr indent="-319088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425"/>
              <a:buChar char="●"/>
            </a:pPr>
            <a:r>
              <a:rPr lang="en" sz="1425"/>
              <a:t>Random Forest: 77.22% test accuracy.</a:t>
            </a:r>
            <a:endParaRPr sz="1425"/>
          </a:p>
          <a:p>
            <a:pPr indent="-319088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425"/>
              <a:buChar char="●"/>
            </a:pPr>
            <a:r>
              <a:rPr lang="en" sz="1425"/>
              <a:t>Quantized INT8 model: 74.68% accuracy with 3.32 kB memory footprint.</a:t>
            </a:r>
            <a:endParaRPr sz="1425"/>
          </a:p>
          <a:p>
            <a:pPr indent="-319088" lvl="0" marL="457200" rtl="0" algn="l">
              <a:lnSpc>
                <a:spcPct val="95000"/>
              </a:lnSpc>
              <a:spcBef>
                <a:spcPts val="1000"/>
              </a:spcBef>
              <a:spcAft>
                <a:spcPts val="1000"/>
              </a:spcAft>
              <a:buSzPts val="1425"/>
              <a:buChar char="●"/>
            </a:pPr>
            <a:r>
              <a:rPr lang="en" sz="1425"/>
              <a:t>Best classification for normal and severe-obstruction conditions; greater confusion between filter attenuation and high ambient light.</a:t>
            </a:r>
            <a:endParaRPr sz="1425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/>
          <p:nvPr>
            <p:ph type="title"/>
          </p:nvPr>
        </p:nvSpPr>
        <p:spPr>
          <a:xfrm>
            <a:off x="21785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206" name="Google Shape;206;p34" title="9_Heatm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5200"/>
            <a:ext cx="9143999" cy="4535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5"/>
          <p:cNvSpPr txBox="1"/>
          <p:nvPr>
            <p:ph type="title"/>
          </p:nvPr>
        </p:nvSpPr>
        <p:spPr>
          <a:xfrm>
            <a:off x="729450" y="491525"/>
            <a:ext cx="7688700" cy="5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 / Future Enhancements</a:t>
            </a:r>
            <a:endParaRPr/>
          </a:p>
        </p:txBody>
      </p:sp>
      <p:sp>
        <p:nvSpPr>
          <p:cNvPr id="212" name="Google Shape;212;p35"/>
          <p:cNvSpPr txBox="1"/>
          <p:nvPr>
            <p:ph idx="1" type="body"/>
          </p:nvPr>
        </p:nvSpPr>
        <p:spPr>
          <a:xfrm>
            <a:off x="727650" y="1746150"/>
            <a:ext cx="7688700" cy="29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178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25"/>
              <a:buChar char="●"/>
            </a:pPr>
            <a:r>
              <a:rPr lang="en" sz="1625"/>
              <a:t>Expand dataset diversity and size to improve model generalization.</a:t>
            </a:r>
            <a:endParaRPr sz="1625"/>
          </a:p>
          <a:p>
            <a:pPr indent="-331788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625"/>
              <a:buChar char="●"/>
            </a:pPr>
            <a:r>
              <a:rPr lang="en" sz="1625"/>
              <a:t>Add complete-link-failure detection for loss of synchronization.</a:t>
            </a:r>
            <a:endParaRPr sz="1625"/>
          </a:p>
          <a:p>
            <a:pPr indent="-331788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625"/>
              <a:buChar char="●"/>
            </a:pPr>
            <a:r>
              <a:rPr lang="en" sz="1625"/>
              <a:t>Investigate more bandwidth-efficient and error-resilient modulation/coding schemes.</a:t>
            </a:r>
            <a:endParaRPr sz="1625"/>
          </a:p>
          <a:p>
            <a:pPr indent="-331788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625"/>
              <a:buChar char="●"/>
            </a:pPr>
            <a:r>
              <a:rPr lang="en" sz="1625"/>
              <a:t>Implement corrective mechanisms such as automated alignment and adaptive transmission power.</a:t>
            </a:r>
            <a:endParaRPr sz="1625"/>
          </a:p>
          <a:p>
            <a:pPr indent="-331788" lvl="0" marL="457200" rtl="0" algn="l">
              <a:spcBef>
                <a:spcPts val="1000"/>
              </a:spcBef>
              <a:spcAft>
                <a:spcPts val="0"/>
              </a:spcAft>
              <a:buSzPts val="1625"/>
              <a:buChar char="●"/>
            </a:pPr>
            <a:r>
              <a:rPr lang="en" sz="1625"/>
              <a:t>Expand diagnostic features with temporal/statistical signal characteristics to improve class separation.</a:t>
            </a:r>
            <a:endParaRPr sz="1625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6"/>
          <p:cNvSpPr txBox="1"/>
          <p:nvPr>
            <p:ph type="ctrTitle"/>
          </p:nvPr>
        </p:nvSpPr>
        <p:spPr>
          <a:xfrm>
            <a:off x="727950" y="150820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THANK YOU !</a:t>
            </a:r>
            <a:endParaRPr sz="3400"/>
          </a:p>
        </p:txBody>
      </p:sp>
      <p:sp>
        <p:nvSpPr>
          <p:cNvPr id="218" name="Google Shape;218;p36"/>
          <p:cNvSpPr txBox="1"/>
          <p:nvPr>
            <p:ph idx="1" type="subTitle"/>
          </p:nvPr>
        </p:nvSpPr>
        <p:spPr>
          <a:xfrm>
            <a:off x="729625" y="3172900"/>
            <a:ext cx="7688100" cy="9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440"/>
              <a:t>IOE, Pulchowk Campus</a:t>
            </a:r>
            <a:endParaRPr sz="144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440"/>
              <a:t>August 2026</a:t>
            </a:r>
            <a:endParaRPr sz="144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/>
          <p:nvPr>
            <p:ph type="title"/>
          </p:nvPr>
        </p:nvSpPr>
        <p:spPr>
          <a:xfrm>
            <a:off x="729450" y="491525"/>
            <a:ext cx="7688700" cy="5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7"/>
          <p:cNvSpPr txBox="1"/>
          <p:nvPr>
            <p:ph idx="1" type="body"/>
          </p:nvPr>
        </p:nvSpPr>
        <p:spPr>
          <a:xfrm>
            <a:off x="729450" y="1290025"/>
            <a:ext cx="7688700" cy="38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908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25"/>
              <a:buChar char="●"/>
            </a:pPr>
            <a:r>
              <a:rPr lang="en" sz="1425"/>
              <a:t>Autonomous point-to-point OWC testbed successfully integrated with Edge-AI diagnostics.</a:t>
            </a:r>
            <a:endParaRPr sz="1425"/>
          </a:p>
          <a:p>
            <a:pPr indent="-319088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425"/>
              <a:buChar char="●"/>
            </a:pPr>
            <a:r>
              <a:rPr lang="en" sz="1425"/>
              <a:t>Receiver performs payload recovery, feature extraction, and link-condition classification using Signal Voltage, BER, SNR, and Ambient Light.</a:t>
            </a:r>
            <a:endParaRPr sz="1425"/>
          </a:p>
          <a:p>
            <a:pPr indent="-319088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425"/>
              <a:buChar char="●"/>
            </a:pPr>
            <a:r>
              <a:rPr lang="en" sz="1425"/>
              <a:t>Four-class dataset developed from controlled hardware experiments.</a:t>
            </a:r>
            <a:endParaRPr sz="1425"/>
          </a:p>
          <a:p>
            <a:pPr indent="-319088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425"/>
              <a:buChar char="●"/>
            </a:pPr>
            <a:r>
              <a:rPr lang="en" sz="1425"/>
              <a:t>Floating-point model achieved 78.48% test accuracy; quantized INT8 model occupied only 3.32 kB and was successfully deployed on ESP32-S3.</a:t>
            </a:r>
            <a:endParaRPr sz="1425"/>
          </a:p>
          <a:p>
            <a:pPr indent="-319088" lvl="0" marL="457200" rtl="0" algn="l">
              <a:lnSpc>
                <a:spcPct val="95000"/>
              </a:lnSpc>
              <a:spcBef>
                <a:spcPts val="1000"/>
              </a:spcBef>
              <a:spcAft>
                <a:spcPts val="1000"/>
              </a:spcAft>
              <a:buSzPts val="1425"/>
              <a:buChar char="●"/>
            </a:pPr>
            <a:r>
              <a:rPr lang="en" sz="1425"/>
              <a:t>System demonstrated real-time, self-contained link diagnosis without external computation.</a:t>
            </a:r>
            <a:endParaRPr sz="1425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8" title="7_F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60525"/>
            <a:ext cx="8839200" cy="402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